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565DF-F505-446E-851D-80D601A72FF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D8F40-9C72-4B93-B569-8B9299EDC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1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572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42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49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9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6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20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30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66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7750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08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4142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08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23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B6EC66-A838-4004-BA0B-69E590786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45E59A5F-3D0B-480C-A333-41FD5D28D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23678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CBA28B-D88C-DB19-A28B-1D49A648D09D}"/>
              </a:ext>
            </a:extLst>
          </p:cNvPr>
          <p:cNvSpPr txBox="1"/>
          <p:nvPr/>
        </p:nvSpPr>
        <p:spPr>
          <a:xfrm>
            <a:off x="709127" y="134035"/>
            <a:ext cx="5271796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6">
                    <a:lumMod val="50000"/>
                  </a:schemeClr>
                </a:solidFill>
              </a:rPr>
              <a:t>World Happiness Report 2015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16DBB5-3C32-17C1-ABE2-857C27AF5ABC}"/>
              </a:ext>
            </a:extLst>
          </p:cNvPr>
          <p:cNvSpPr txBox="1"/>
          <p:nvPr/>
        </p:nvSpPr>
        <p:spPr>
          <a:xfrm>
            <a:off x="727788" y="2093167"/>
            <a:ext cx="6027575" cy="461665"/>
          </a:xfrm>
          <a:prstGeom prst="rect">
            <a:avLst/>
          </a:prstGeom>
          <a:noFill/>
          <a:ln w="19050"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   Probability &amp; Statistics Term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654149-7992-D17E-16F3-ED4487D28EAC}"/>
              </a:ext>
            </a:extLst>
          </p:cNvPr>
          <p:cNvSpPr txBox="1"/>
          <p:nvPr/>
        </p:nvSpPr>
        <p:spPr>
          <a:xfrm>
            <a:off x="709127" y="3767450"/>
            <a:ext cx="6046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Presented By:</a:t>
            </a:r>
          </a:p>
          <a:p>
            <a:r>
              <a:rPr lang="en-US" sz="2400" dirty="0"/>
              <a:t>FARUK </a:t>
            </a:r>
            <a:r>
              <a:rPr lang="en-US" sz="2400"/>
              <a:t>MD </a:t>
            </a:r>
            <a:r>
              <a:rPr lang="en-US" sz="2400" smtClean="0"/>
              <a:t>OMAR-(26013473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7DC681-55A8-7B7D-1D57-37E637DFD96E}"/>
              </a:ext>
            </a:extLst>
          </p:cNvPr>
          <p:cNvSpPr txBox="1"/>
          <p:nvPr/>
        </p:nvSpPr>
        <p:spPr>
          <a:xfrm>
            <a:off x="9227976" y="4954555"/>
            <a:ext cx="2491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04 JUNE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B943AF-7A18-2B71-3224-1297FA39B62E}"/>
              </a:ext>
            </a:extLst>
          </p:cNvPr>
          <p:cNvSpPr txBox="1"/>
          <p:nvPr/>
        </p:nvSpPr>
        <p:spPr>
          <a:xfrm>
            <a:off x="9621293" y="5477775"/>
            <a:ext cx="2023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Sejong university</a:t>
            </a:r>
          </a:p>
        </p:txBody>
      </p:sp>
    </p:spTree>
    <p:extLst>
      <p:ext uri="{BB962C8B-B14F-4D97-AF65-F5344CB8AC3E}">
        <p14:creationId xmlns:p14="http://schemas.microsoft.com/office/powerpoint/2010/main" val="340908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D58C7B-1BB3-42B6-A0A0-1D023D2D1213}"/>
              </a:ext>
            </a:extLst>
          </p:cNvPr>
          <p:cNvSpPr txBox="1"/>
          <p:nvPr/>
        </p:nvSpPr>
        <p:spPr>
          <a:xfrm>
            <a:off x="240144" y="110958"/>
            <a:ext cx="7148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Problem </a:t>
            </a:r>
            <a:r>
              <a:rPr lang="en-US" sz="3600" b="1" dirty="0" err="1">
                <a:solidFill>
                  <a:schemeClr val="accent6">
                    <a:lumMod val="50000"/>
                  </a:schemeClr>
                </a:solidFill>
              </a:rPr>
              <a:t>Defination</a:t>
            </a: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 &amp;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86FD1-9800-C8B9-0888-5B2ACD4FA482}"/>
              </a:ext>
            </a:extLst>
          </p:cNvPr>
          <p:cNvSpPr txBox="1"/>
          <p:nvPr/>
        </p:nvSpPr>
        <p:spPr>
          <a:xfrm>
            <a:off x="231713" y="1106477"/>
            <a:ext cx="117802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Inquiry</a:t>
            </a:r>
            <a:r>
              <a:rPr lang="en-US" sz="2000" dirty="0"/>
              <a:t>:</a:t>
            </a:r>
          </a:p>
          <a:p>
            <a:r>
              <a:rPr lang="en-US" sz="2000" dirty="0"/>
              <a:t>Can we mathematically predict a nation’s happiness, and how much does wealth actually           </a:t>
            </a:r>
            <a:r>
              <a:rPr lang="en-US" sz="2000" dirty="0" err="1"/>
              <a:t>matters?And</a:t>
            </a:r>
            <a:r>
              <a:rPr lang="en-US" sz="2000" dirty="0"/>
              <a:t> instead of guessing, we use data </a:t>
            </a:r>
            <a:r>
              <a:rPr lang="en-US" sz="2000" dirty="0" smtClean="0"/>
              <a:t>to make  predictions.</a:t>
            </a:r>
            <a:endParaRPr lang="en-US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BB141A-AF8B-A178-A6E1-1DC4F8C698A6}"/>
              </a:ext>
            </a:extLst>
          </p:cNvPr>
          <p:cNvCxnSpPr/>
          <p:nvPr/>
        </p:nvCxnSpPr>
        <p:spPr>
          <a:xfrm>
            <a:off x="240591" y="1482571"/>
            <a:ext cx="8431" cy="559293"/>
          </a:xfrm>
          <a:prstGeom prst="line">
            <a:avLst/>
          </a:prstGeom>
          <a:ln w="571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13" y="3316357"/>
            <a:ext cx="6562075" cy="30954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0167" y="2585533"/>
            <a:ext cx="6623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Wingdings" panose="05000000000000000000" pitchFamily="2" charset="2"/>
              <a:buChar char="Ø"/>
            </a:pPr>
            <a:r>
              <a:rPr lang="en-US" dirty="0"/>
              <a:t>The dataset consists of 12 columns, 10 of which contain numerical data, comprising a total of 1,580 values.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873" y="3316357"/>
            <a:ext cx="4831499" cy="3095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89886" y="2655869"/>
            <a:ext cx="324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Target variable: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83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1884" y="-20356"/>
            <a:ext cx="7930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&amp; Outlier Detection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84" y="1128824"/>
            <a:ext cx="4018085" cy="31560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540" y="1128823"/>
            <a:ext cx="3816478" cy="45510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884" y="728714"/>
            <a:ext cx="30187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Descriptive </a:t>
            </a:r>
            <a:r>
              <a:rPr lang="en-US" sz="2000" dirty="0" smtClean="0"/>
              <a:t>Statistics:</a:t>
            </a:r>
            <a:endParaRPr lang="en-US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018" y="1128823"/>
            <a:ext cx="3851028" cy="32284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845" y="4357296"/>
            <a:ext cx="3782577" cy="24029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27089" y="716706"/>
            <a:ext cx="238558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Outlier </a:t>
            </a:r>
            <a:r>
              <a:rPr lang="en-US" sz="2000" dirty="0" smtClean="0"/>
              <a:t>Analysis:</a:t>
            </a: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871829" y="4648778"/>
            <a:ext cx="4332143" cy="20621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bg1"/>
                </a:solidFill>
              </a:rPr>
              <a:t>Zero Outliers Detected: </a:t>
            </a:r>
            <a:r>
              <a:rPr lang="en-US" dirty="0"/>
              <a:t>The data contains exactly 0 outliers (0.00%), proving that no single country has a happiness score so extreme that it breaks the data's natural pattern.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540" y="5486252"/>
            <a:ext cx="3816478" cy="137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2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2223" y="17584"/>
            <a:ext cx="39164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Histogram &amp; 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  <a:t>CDF</a:t>
            </a:r>
            <a:endParaRPr lang="en-US" sz="3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23" y="663915"/>
            <a:ext cx="4213967" cy="29848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30" y="3648808"/>
            <a:ext cx="4231551" cy="32091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357" y="663915"/>
            <a:ext cx="4694327" cy="251481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364" y="3178733"/>
            <a:ext cx="4694327" cy="3226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01662" y="575995"/>
            <a:ext cx="282233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Symmetric Normal Distribution: </a:t>
            </a:r>
            <a:r>
              <a:rPr lang="en-US" dirty="0"/>
              <a:t>A negligible skewness score of </a:t>
            </a:r>
            <a:r>
              <a:rPr lang="en-US" dirty="0" smtClean="0"/>
              <a:t>0.0978 </a:t>
            </a:r>
            <a:r>
              <a:rPr lang="en-US" dirty="0"/>
              <a:t>confirms that the country data is nearly </a:t>
            </a:r>
            <a:r>
              <a:rPr lang="en-US" dirty="0" smtClean="0"/>
              <a:t>balanced</a:t>
            </a:r>
            <a:r>
              <a:rPr lang="en-US" dirty="0"/>
              <a:t>, closely mirroring a theoretical normal bell curve with no major tails.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4981" y="3408218"/>
            <a:ext cx="289901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Gradual Cumulative Scaling: </a:t>
            </a:r>
            <a:r>
              <a:rPr lang="en-US" dirty="0"/>
              <a:t>The smooth, steady </a:t>
            </a:r>
            <a:r>
              <a:rPr lang="en-US" dirty="0" smtClean="0"/>
              <a:t>curve </a:t>
            </a:r>
            <a:r>
              <a:rPr lang="en-US" dirty="0"/>
              <a:t>confirms that global happiness increases gradually across all 158 countries without major gaps, visually proving that roughly 40% of nations score a 5.0 or lower, while the remaining 60% score above it.</a:t>
            </a:r>
          </a:p>
        </p:txBody>
      </p:sp>
    </p:spTree>
    <p:extLst>
      <p:ext uri="{BB962C8B-B14F-4D97-AF65-F5344CB8AC3E}">
        <p14:creationId xmlns:p14="http://schemas.microsoft.com/office/powerpoint/2010/main" val="14972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0628" y="52254"/>
            <a:ext cx="7855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Conditional Probability</a:t>
            </a:r>
            <a:endParaRPr lang="en-US" sz="3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8" y="698585"/>
            <a:ext cx="5870779" cy="30406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603" y="698585"/>
            <a:ext cx="5852667" cy="30406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603" y="3739228"/>
            <a:ext cx="5852667" cy="10897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603" y="4828982"/>
            <a:ext cx="5852667" cy="19508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588" y="3767633"/>
            <a:ext cx="56290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Global Base </a:t>
            </a:r>
            <a:r>
              <a:rPr lang="en-US" sz="2000" b="1" dirty="0" smtClean="0">
                <a:solidFill>
                  <a:schemeClr val="bg1"/>
                </a:solidFill>
              </a:rPr>
              <a:t>Rate: </a:t>
            </a:r>
            <a:r>
              <a:rPr lang="en-US" dirty="0"/>
              <a:t>Only about </a:t>
            </a:r>
            <a:r>
              <a:rPr lang="en-US" dirty="0" smtClean="0"/>
              <a:t>28% of </a:t>
            </a:r>
            <a:r>
              <a:rPr lang="en-US" dirty="0"/>
              <a:t>all countries score above </a:t>
            </a:r>
            <a:r>
              <a:rPr lang="en-US" dirty="0" smtClean="0"/>
              <a:t>6.0 on </a:t>
            </a:r>
            <a:r>
              <a:rPr lang="en-US" dirty="0"/>
              <a:t>the global Happiness Index.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628" y="4828981"/>
            <a:ext cx="574465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</a:t>
            </a:r>
            <a:r>
              <a:rPr lang="en-US" sz="2000" b="1" dirty="0" smtClean="0">
                <a:solidFill>
                  <a:schemeClr val="bg1"/>
                </a:solidFill>
              </a:rPr>
              <a:t>he </a:t>
            </a:r>
            <a:r>
              <a:rPr lang="en-US" sz="2000" b="1" dirty="0">
                <a:solidFill>
                  <a:schemeClr val="bg1"/>
                </a:solidFill>
              </a:rPr>
              <a:t>Economic </a:t>
            </a:r>
            <a:r>
              <a:rPr lang="en-US" sz="2000" b="1" dirty="0" smtClean="0">
                <a:solidFill>
                  <a:schemeClr val="bg1"/>
                </a:solidFill>
              </a:rPr>
              <a:t>Catalyst: </a:t>
            </a:r>
            <a:r>
              <a:rPr lang="en-US" dirty="0" smtClean="0"/>
              <a:t>However</a:t>
            </a:r>
            <a:r>
              <a:rPr lang="en-US" dirty="0"/>
              <a:t>, when a country has a strong economy (</a:t>
            </a:r>
            <a:r>
              <a:rPr lang="en-US" dirty="0" smtClean="0"/>
              <a:t>GDP </a:t>
            </a:r>
            <a:r>
              <a:rPr lang="en-US" dirty="0"/>
              <a:t>&gt; </a:t>
            </a:r>
            <a:r>
              <a:rPr lang="en-US" dirty="0" smtClean="0"/>
              <a:t>1.0), </a:t>
            </a:r>
            <a:r>
              <a:rPr lang="en-US" dirty="0"/>
              <a:t>its chance of entering that </a:t>
            </a:r>
            <a:r>
              <a:rPr lang="en-US" dirty="0" smtClean="0"/>
              <a:t>high happiness </a:t>
            </a:r>
            <a:r>
              <a:rPr lang="en-US" dirty="0"/>
              <a:t>zone doubles to </a:t>
            </a:r>
            <a:r>
              <a:rPr lang="en-US"/>
              <a:t>nearly </a:t>
            </a:r>
            <a:r>
              <a:rPr lang="en-US" smtClean="0"/>
              <a:t>55%.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76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979" y="4682876"/>
            <a:ext cx="3884973" cy="20752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979" y="656846"/>
            <a:ext cx="3884973" cy="4026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083" y="10515"/>
            <a:ext cx="10205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Confidence Interval &amp; Sampling Distribution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74" y="3100552"/>
            <a:ext cx="7217515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3779" y="746234"/>
            <a:ext cx="6684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distribution of sample </a:t>
            </a:r>
            <a:r>
              <a:rPr lang="en-US" dirty="0" smtClean="0"/>
              <a:t>means appears </a:t>
            </a:r>
            <a:r>
              <a:rPr lang="en-US" dirty="0"/>
              <a:t>approximately </a:t>
            </a:r>
            <a:r>
              <a:rPr lang="en-US" dirty="0" smtClean="0"/>
              <a:t>normal.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83779" y="1723696"/>
            <a:ext cx="52656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We are 95% confident that the true average happiness score of the global population lies between 5.1502 and 5.5883.</a:t>
            </a:r>
          </a:p>
        </p:txBody>
      </p:sp>
    </p:spTree>
    <p:extLst>
      <p:ext uri="{BB962C8B-B14F-4D97-AF65-F5344CB8AC3E}">
        <p14:creationId xmlns:p14="http://schemas.microsoft.com/office/powerpoint/2010/main" val="404301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886" y="81198"/>
            <a:ext cx="7386958" cy="5155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3333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  <a:ea typeface="League Spartan"/>
                <a:cs typeface="League Spartan"/>
                <a:sym typeface="League Spartan"/>
              </a:rPr>
              <a:t>Hypothesis Testing Using a Z-Test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368" y="664736"/>
            <a:ext cx="5698632" cy="39647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368" y="4629504"/>
            <a:ext cx="5698632" cy="2156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2270234"/>
            <a:ext cx="582273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The mean happiness score (5.376) is NOT significantly different from 5.5 (p = 0.172 &gt; 0.05). We fail to reject H₀.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1886" y="873206"/>
            <a:ext cx="6096000" cy="129266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Baseline Selection: </a:t>
            </a:r>
            <a:r>
              <a:rPr lang="en-US" dirty="0"/>
              <a:t>The value of </a:t>
            </a:r>
            <a:r>
              <a:rPr lang="en-US" dirty="0" smtClean="0"/>
              <a:t>5.5 was </a:t>
            </a:r>
            <a:r>
              <a:rPr lang="en-US" dirty="0"/>
              <a:t>selected for the Null Hypothesis </a:t>
            </a:r>
            <a:r>
              <a:rPr lang="en-US" dirty="0" smtClean="0"/>
              <a:t>(H0) </a:t>
            </a:r>
            <a:r>
              <a:rPr lang="en-US" dirty="0"/>
              <a:t>because it represents the absolute neutral midpoint of the </a:t>
            </a:r>
            <a:r>
              <a:rPr lang="en-US" dirty="0" smtClean="0"/>
              <a:t>0 to-10 World </a:t>
            </a:r>
            <a:r>
              <a:rPr lang="en-US" dirty="0"/>
              <a:t>Happiness scale.</a:t>
            </a:r>
          </a:p>
        </p:txBody>
      </p:sp>
    </p:spTree>
    <p:extLst>
      <p:ext uri="{BB962C8B-B14F-4D97-AF65-F5344CB8AC3E}">
        <p14:creationId xmlns:p14="http://schemas.microsoft.com/office/powerpoint/2010/main" val="233296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180" y="646331"/>
            <a:ext cx="5087554" cy="42601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734" y="646331"/>
            <a:ext cx="6585682" cy="42601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9933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Century" panose="02040604050505020304" pitchFamily="18" charset="0"/>
                <a:ea typeface="Calibri" pitchFamily="34" charset="-122"/>
                <a:cs typeface="Calibri" pitchFamily="34" charset="-120"/>
              </a:rPr>
              <a:t>Correlation Matrix &amp; Linear Regression</a:t>
            </a:r>
            <a:endParaRPr lang="en-US" sz="3600" b="1" dirty="0">
              <a:solidFill>
                <a:schemeClr val="accent6">
                  <a:lumMod val="50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5180" y="5097517"/>
            <a:ext cx="118601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Impact of Economy </a:t>
            </a:r>
            <a:r>
              <a:rPr lang="en-US" sz="2000" b="1" dirty="0" smtClean="0">
                <a:solidFill>
                  <a:schemeClr val="bg1"/>
                </a:solidFill>
              </a:rPr>
              <a:t>: </a:t>
            </a:r>
            <a:r>
              <a:rPr lang="en-US" dirty="0"/>
              <a:t>Every </a:t>
            </a:r>
            <a:r>
              <a:rPr lang="en-US" dirty="0" smtClean="0"/>
              <a:t>1-unit </a:t>
            </a:r>
            <a:r>
              <a:rPr lang="en-US" dirty="0"/>
              <a:t>increase in GDP per capita is predicted to boost a country's happiness score by </a:t>
            </a:r>
            <a:r>
              <a:rPr lang="en-US" dirty="0" smtClean="0"/>
              <a:t>2.2347 </a:t>
            </a:r>
            <a:r>
              <a:rPr lang="en-US" dirty="0"/>
              <a:t>points, proving a strong positive impact.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310" y="5780952"/>
            <a:ext cx="115531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Model Accuracy </a:t>
            </a:r>
            <a:r>
              <a:rPr lang="en-US" sz="2000" b="1" dirty="0" smtClean="0">
                <a:solidFill>
                  <a:schemeClr val="bg1"/>
                </a:solidFill>
              </a:rPr>
              <a:t>: </a:t>
            </a:r>
            <a:r>
              <a:rPr lang="en-US" dirty="0" smtClean="0"/>
              <a:t>GDP </a:t>
            </a:r>
            <a:r>
              <a:rPr lang="en-US" dirty="0"/>
              <a:t>per capita successfully accounts for </a:t>
            </a:r>
            <a:r>
              <a:rPr lang="en-US" dirty="0" smtClean="0"/>
              <a:t>64.19% </a:t>
            </a:r>
            <a:r>
              <a:rPr lang="en-US" dirty="0"/>
              <a:t>of the differences in global happiness, leaving only </a:t>
            </a:r>
            <a:r>
              <a:rPr lang="en-US" dirty="0" smtClean="0"/>
              <a:t>35.81% </a:t>
            </a:r>
            <a:r>
              <a:rPr lang="en-US" dirty="0"/>
              <a:t>to be explained by other external factors.</a:t>
            </a:r>
          </a:p>
        </p:txBody>
      </p:sp>
    </p:spTree>
    <p:extLst>
      <p:ext uri="{BB962C8B-B14F-4D97-AF65-F5344CB8AC3E}">
        <p14:creationId xmlns:p14="http://schemas.microsoft.com/office/powerpoint/2010/main" val="139316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555" y="704194"/>
            <a:ext cx="7384420" cy="2312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555" y="3016469"/>
            <a:ext cx="7384420" cy="38415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707" y="73573"/>
            <a:ext cx="7344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&amp; Key Takeaways</a:t>
            </a:r>
            <a:endParaRPr lang="en-US" sz="3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9310" y="847976"/>
            <a:ext cx="445624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Economy </a:t>
            </a:r>
            <a:r>
              <a:rPr lang="en-US" dirty="0"/>
              <a:t>is the strongest single predictor of </a:t>
            </a:r>
            <a:r>
              <a:rPr lang="en-US" dirty="0" smtClean="0"/>
              <a:t>happiness.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P(happiness score&gt;6.0)=28%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prstClr val="white"/>
                </a:solidFill>
              </a:rPr>
              <a:t>P(</a:t>
            </a:r>
            <a:r>
              <a:rPr lang="en-US" dirty="0" err="1" smtClean="0">
                <a:solidFill>
                  <a:prstClr val="white"/>
                </a:solidFill>
              </a:rPr>
              <a:t>happinessscore</a:t>
            </a:r>
            <a:r>
              <a:rPr lang="en-US" dirty="0" smtClean="0">
                <a:solidFill>
                  <a:prstClr val="white"/>
                </a:solidFill>
              </a:rPr>
              <a:t>&gt;6.0|gdp&gt;1)=55%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>
              <a:solidFill>
                <a:prstClr val="whit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mean happiness score (5.376) is NOT significantly different from </a:t>
            </a:r>
            <a:r>
              <a:rPr lang="en-US" dirty="0" smtClean="0"/>
              <a:t>5.5</a:t>
            </a:r>
          </a:p>
          <a:p>
            <a:r>
              <a:rPr lang="en-US" dirty="0" smtClean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Regression model </a:t>
            </a:r>
            <a:r>
              <a:rPr lang="en-US" dirty="0" smtClean="0"/>
              <a:t>achieved           </a:t>
            </a:r>
            <a:r>
              <a:rPr lang="en-US" dirty="0"/>
              <a:t>R² = </a:t>
            </a:r>
            <a:r>
              <a:rPr lang="en-US" dirty="0" smtClean="0"/>
              <a:t>64.19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66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07400"/>
          </a:xfrm>
          <a:prstGeom prst="rect">
            <a:avLst/>
          </a:prstGeom>
        </p:spPr>
      </p:pic>
      <p:sp>
        <p:nvSpPr>
          <p:cNvPr id="5" name="Oval Callout 4"/>
          <p:cNvSpPr/>
          <p:nvPr/>
        </p:nvSpPr>
        <p:spPr>
          <a:xfrm>
            <a:off x="8565932" y="0"/>
            <a:ext cx="3626068" cy="1860331"/>
          </a:xfrm>
          <a:prstGeom prst="wedgeEllipseCallou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dirty="0" smtClean="0"/>
              <a:t>Thank </a:t>
            </a:r>
          </a:p>
          <a:p>
            <a:pPr algn="ctr"/>
            <a:r>
              <a:rPr lang="en-US" sz="6000" dirty="0" smtClean="0"/>
              <a:t>You!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085913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389</TotalTime>
  <Words>468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League Spartan</vt:lpstr>
      <vt:lpstr>Calibri</vt:lpstr>
      <vt:lpstr>Century</vt:lpstr>
      <vt:lpstr>Century Gothic</vt:lpstr>
      <vt:lpstr>Wingdings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Omar</dc:creator>
  <cp:lastModifiedBy>ASUS</cp:lastModifiedBy>
  <cp:revision>28</cp:revision>
  <dcterms:created xsi:type="dcterms:W3CDTF">2026-06-03T12:22:03Z</dcterms:created>
  <dcterms:modified xsi:type="dcterms:W3CDTF">2026-06-09T22:39:21Z</dcterms:modified>
</cp:coreProperties>
</file>